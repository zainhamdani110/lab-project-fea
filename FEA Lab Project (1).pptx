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7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Roboto Light" panose="020B0604020202020204" charset="0"/>
      <p:regular r:id="rId9"/>
    </p:embeddedFont>
    <p:embeddedFont>
      <p:font typeface="Poppins Light" panose="020B0604020202020204" charset="0"/>
      <p:regular r:id="rId10"/>
    </p:embeddedFont>
    <p:embeddedFont>
      <p:font typeface="Trebuchet MS" panose="020B0603020202020204" pitchFamily="34" charset="0"/>
      <p:regular r:id="rId11"/>
      <p:bold r:id="rId12"/>
      <p:italic r:id="rId13"/>
      <p:boldItalic r:id="rId14"/>
    </p:embeddedFont>
    <p:embeddedFont>
      <p:font typeface="Wingdings 3" panose="05040102010807070707" pitchFamily="18" charset="2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26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1861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648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6633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32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88628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78132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4173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7491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25397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7388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476" indent="0">
              <a:buNone/>
              <a:defRPr sz="1680"/>
            </a:lvl2pPr>
            <a:lvl3pPr marL="1096951" indent="0">
              <a:buNone/>
              <a:defRPr sz="1440"/>
            </a:lvl3pPr>
            <a:lvl4pPr marL="1645427" indent="0">
              <a:buNone/>
              <a:defRPr sz="1200"/>
            </a:lvl4pPr>
            <a:lvl5pPr marL="2193901" indent="0">
              <a:buNone/>
              <a:defRPr sz="1200"/>
            </a:lvl5pPr>
            <a:lvl6pPr marL="2742377" indent="0">
              <a:buNone/>
              <a:defRPr sz="1200"/>
            </a:lvl6pPr>
            <a:lvl7pPr marL="3290852" indent="0">
              <a:buNone/>
              <a:defRPr sz="1200"/>
            </a:lvl7pPr>
            <a:lvl8pPr marL="3839328" indent="0">
              <a:buNone/>
              <a:defRPr sz="1200"/>
            </a:lvl8pPr>
            <a:lvl9pPr marL="4387804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8749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51675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40985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216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33437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6631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59702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528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8365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29305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10786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94908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50285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1608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384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11511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3264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11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  <p:sldLayoutId id="2147483718" r:id="rId21"/>
    <p:sldLayoutId id="2147483719" r:id="rId22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7.svg"/><Relationship Id="rId5" Type="http://schemas.openxmlformats.org/officeDocument/2006/relationships/image" Target="../media/image12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99792"/>
            <a:ext cx="117274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FEA Lab Project: Static &amp; Transient Analysis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1487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S.M.Zain</a:t>
            </a:r>
            <a:r>
              <a:rPr lang="en-US" sz="17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ul</a:t>
            </a:r>
            <a:r>
              <a:rPr lang="en-US" sz="17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 </a:t>
            </a:r>
            <a:r>
              <a:rPr lang="en-US" sz="1750" dirty="0" err="1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abdeen</a:t>
            </a:r>
            <a:endParaRPr lang="en-US" sz="1750" dirty="0" smtClean="0">
              <a:latin typeface="Times New Roman" panose="02020603050405020304" pitchFamily="18" charset="0"/>
              <a:ea typeface="Roboto Light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ME 1907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Mechanical </a:t>
            </a:r>
            <a:r>
              <a:rPr lang="en-US" sz="17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Engineering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89" y="52027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Instructor: Engr Affan Ahmed Khan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839" y="483156"/>
            <a:ext cx="7235547" cy="54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Introduction &amp; Material Properties</a:t>
            </a:r>
            <a:endParaRPr lang="en-US"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14839" y="1646992"/>
            <a:ext cx="4349829" cy="1860947"/>
          </a:xfrm>
          <a:prstGeom prst="roundRect">
            <a:avLst>
              <a:gd name="adj" fmla="val 5896"/>
            </a:avLst>
          </a:prstGeom>
          <a:noFill/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14839" y="1624132"/>
            <a:ext cx="4349829" cy="91440"/>
          </a:xfrm>
          <a:prstGeom prst="roundRect">
            <a:avLst>
              <a:gd name="adj" fmla="val 80702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526209" y="1383506"/>
            <a:ext cx="527090" cy="527090"/>
          </a:xfrm>
          <a:prstGeom prst="roundRect">
            <a:avLst>
              <a:gd name="adj" fmla="val 173481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684324" y="1515308"/>
            <a:ext cx="21074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1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3316" y="2086213"/>
            <a:ext cx="219622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Project Overview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13316" y="2466142"/>
            <a:ext cx="3952875" cy="84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This report details Static Structural and Transient Structural analyses on a </a:t>
            </a:r>
            <a:r>
              <a:rPr lang="en-US" sz="13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hex</a:t>
            </a:r>
            <a:r>
              <a:rPr lang="en-US" sz="13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agon-based </a:t>
            </a:r>
            <a:r>
              <a:rPr lang="en-US" sz="13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3D extruded geometry.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40285" y="1646992"/>
            <a:ext cx="4349829" cy="1860947"/>
          </a:xfrm>
          <a:prstGeom prst="roundRect">
            <a:avLst>
              <a:gd name="adj" fmla="val 5896"/>
            </a:avLst>
          </a:prstGeom>
          <a:noFill/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40285" y="1624132"/>
            <a:ext cx="4349829" cy="91440"/>
          </a:xfrm>
          <a:prstGeom prst="roundRect">
            <a:avLst>
              <a:gd name="adj" fmla="val 80702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51655" y="1383506"/>
            <a:ext cx="527090" cy="527090"/>
          </a:xfrm>
          <a:prstGeom prst="roundRect">
            <a:avLst>
              <a:gd name="adj" fmla="val 173481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209770" y="1515308"/>
            <a:ext cx="21074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2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38762" y="2086213"/>
            <a:ext cx="219622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Purpose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38762" y="2466142"/>
            <a:ext cx="3952875" cy="562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To observe the structure's response to static and time-dependent varying loads.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65732" y="1646992"/>
            <a:ext cx="4349829" cy="1860947"/>
          </a:xfrm>
          <a:prstGeom prst="roundRect">
            <a:avLst>
              <a:gd name="adj" fmla="val 5896"/>
            </a:avLst>
          </a:prstGeom>
          <a:noFill/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665732" y="1624132"/>
            <a:ext cx="4349829" cy="91440"/>
          </a:xfrm>
          <a:prstGeom prst="roundRect">
            <a:avLst>
              <a:gd name="adj" fmla="val 80702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577102" y="1383506"/>
            <a:ext cx="527090" cy="527090"/>
          </a:xfrm>
          <a:prstGeom prst="roundRect">
            <a:avLst>
              <a:gd name="adj" fmla="val 173481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735217" y="1515308"/>
            <a:ext cx="21074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3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864209" y="2086213"/>
            <a:ext cx="219622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Material: ME-1900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864209" y="2466142"/>
            <a:ext cx="3952875" cy="84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Young's Modulus: </a:t>
            </a:r>
            <a:r>
              <a:rPr lang="en-US" sz="13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7</a:t>
            </a:r>
            <a:r>
              <a:rPr lang="en-US" sz="13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000 </a:t>
            </a:r>
            <a:r>
              <a:rPr lang="en-US" sz="1350" dirty="0" err="1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Mpa</a:t>
            </a:r>
            <a:endParaRPr lang="en-US" sz="1350" dirty="0" smtClean="0">
              <a:latin typeface="Times New Roman" panose="02020603050405020304" pitchFamily="18" charset="0"/>
              <a:ea typeface="Roboto Light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3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Poisson's </a:t>
            </a:r>
            <a:r>
              <a:rPr lang="en-US" sz="13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Ratio: </a:t>
            </a:r>
            <a:r>
              <a:rPr lang="en-US" sz="13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0.28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13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Density</a:t>
            </a:r>
            <a:r>
              <a:rPr lang="en-US" sz="13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: </a:t>
            </a:r>
            <a:r>
              <a:rPr lang="en-US" sz="13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8000</a:t>
            </a:r>
            <a:r>
              <a:rPr lang="en-US" sz="13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 </a:t>
            </a:r>
            <a:r>
              <a:rPr lang="en-US" sz="13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kg/m³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3468" y="3727729"/>
            <a:ext cx="2881193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Material Properties (Static)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68" y="4526160"/>
            <a:ext cx="4341202" cy="28515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323" y="530543"/>
            <a:ext cx="7200186" cy="60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Geometry Creation &amp; Meshing</a:t>
            </a:r>
            <a:endParaRPr lang="en-US" sz="3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5323" y="1519476"/>
            <a:ext cx="13279755" cy="61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A </a:t>
            </a:r>
            <a:r>
              <a:rPr lang="en-US" sz="150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hex</a:t>
            </a:r>
            <a:r>
              <a:rPr lang="en-US" sz="150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agon </a:t>
            </a:r>
            <a:r>
              <a:rPr lang="en-US" sz="150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shape was sketched on the XY-plane and extruded to a depth of 0.09 m. ANSYS automatically generated a mesh using default controls, including Hex20/Wedge elements.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93583" y="2353985"/>
            <a:ext cx="1820823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Sketch (Static)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73767" y="2353985"/>
            <a:ext cx="1820823" cy="602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Extruded Body (Static)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75323" y="3366849"/>
            <a:ext cx="2490668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Mesh Metrics (Static)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909" y="3995910"/>
            <a:ext cx="3913799" cy="35037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4353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Static Structural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6835" y="892969"/>
            <a:ext cx="6861691" cy="1125974"/>
          </a:xfrm>
          <a:prstGeom prst="roundRect">
            <a:avLst>
              <a:gd name="adj" fmla="val 6497"/>
            </a:avLst>
          </a:prstGeom>
          <a:noFill/>
          <a:ln w="1524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1595" y="892969"/>
            <a:ext cx="60960" cy="112597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1143" y="1021556"/>
            <a:ext cx="146732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Boundary Conditions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1143" y="1266706"/>
            <a:ext cx="6558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Fixed Support on one face.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1143" y="1487805"/>
            <a:ext cx="6558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Remote Force of </a:t>
            </a:r>
            <a:r>
              <a:rPr lang="en-US" sz="8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2032 </a:t>
            </a: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N applied on opposite face (ramped).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71874" y="892969"/>
            <a:ext cx="6861691" cy="1125974"/>
          </a:xfrm>
          <a:prstGeom prst="roundRect">
            <a:avLst>
              <a:gd name="adj" fmla="val 6497"/>
            </a:avLst>
          </a:prstGeom>
          <a:noFill/>
          <a:ln w="1524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56634" y="892969"/>
            <a:ext cx="60960" cy="1125974"/>
          </a:xfrm>
          <a:prstGeom prst="roundRect">
            <a:avLst>
              <a:gd name="adj" fmla="val 78139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46181" y="102155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Static Results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46181" y="1266706"/>
            <a:ext cx="6558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Equivalent (von-Mises) stress distribution obtained.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46181" y="1487805"/>
            <a:ext cx="6558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Maximum stress visible on the loaded face region.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6835" y="2259806"/>
            <a:ext cx="149947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Fixed Support (Static)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461171" y="2259806"/>
            <a:ext cx="152626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 smtClean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Total Deformation</a:t>
            </a:r>
            <a:r>
              <a:rPr lang="en-US" sz="1100" dirty="0" smtClean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(Static)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382607" y="5328812"/>
            <a:ext cx="173188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Equivalent Stress (Static)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7387114" y="5328811"/>
            <a:ext cx="180260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Convergence Plot (Static)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43" y="2797101"/>
            <a:ext cx="5364760" cy="2250311"/>
          </a:xfrm>
          <a:prstGeom prst="rect">
            <a:avLst/>
          </a:prstGeom>
        </p:spPr>
      </p:pic>
      <p:pic>
        <p:nvPicPr>
          <p:cNvPr id="25" name="Picture 2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564" y="2757736"/>
            <a:ext cx="5028828" cy="2501616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143" y="5814986"/>
            <a:ext cx="4276411" cy="2191692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1564" y="5814986"/>
            <a:ext cx="3468513" cy="22671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9281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Transient Structural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6835" y="892969"/>
            <a:ext cx="4536638" cy="340162"/>
          </a:xfrm>
          <a:prstGeom prst="roundRect">
            <a:avLst>
              <a:gd name="adj" fmla="val 480114"/>
            </a:avLst>
          </a:prstGeom>
          <a:noFill/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2580084" y="956667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10183" y="1346478"/>
            <a:ext cx="146732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Boundary Conditions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10183" y="1591628"/>
            <a:ext cx="4309943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Fixed Support on one face. Five Remote Forces (</a:t>
            </a:r>
            <a:r>
              <a:rPr lang="en-US" sz="8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281.5 </a:t>
            </a: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N each) on </a:t>
            </a:r>
            <a:r>
              <a:rPr lang="en-US" sz="8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six </a:t>
            </a:r>
            <a:r>
              <a:rPr lang="en-US" sz="8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different </a:t>
            </a: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faces.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46821" y="892969"/>
            <a:ext cx="4536638" cy="340162"/>
          </a:xfrm>
          <a:prstGeom prst="roundRect">
            <a:avLst>
              <a:gd name="adj" fmla="val 480114"/>
            </a:avLst>
          </a:prstGeom>
          <a:noFill/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30070" y="956667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60169" y="134647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Analysis Settings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60169" y="1591628"/>
            <a:ext cx="43099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Step end time: </a:t>
            </a:r>
            <a:r>
              <a:rPr lang="en-US" sz="8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1.2 </a:t>
            </a: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s. Initial time step: 0.2 s. Auto time stepping: ON. Loads follow a triangular ramp-up/ramp-down.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9696807" y="892969"/>
            <a:ext cx="4536638" cy="340162"/>
          </a:xfrm>
          <a:prstGeom prst="roundRect">
            <a:avLst>
              <a:gd name="adj" fmla="val 480114"/>
            </a:avLst>
          </a:prstGeom>
          <a:noFill/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80056" y="956667"/>
            <a:ext cx="170021" cy="21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10155" y="1346478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Transient Results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10155" y="1591628"/>
            <a:ext cx="4309943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Time-based equivalent stress distribution. Max stress: </a:t>
            </a:r>
            <a:r>
              <a:rPr lang="en-US" sz="8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2.4614e2 </a:t>
            </a: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Pa at t ≈ </a:t>
            </a: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1</a:t>
            </a:r>
            <a:r>
              <a:rPr lang="en-US" sz="850" dirty="0" smtClean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 </a:t>
            </a:r>
            <a:r>
              <a:rPr lang="en-US" sz="8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s, then decreases.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3144" y="2067282"/>
            <a:ext cx="174593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Fixed Support (Transient)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85923" y="2171908"/>
            <a:ext cx="242423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 smtClean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Deformation </a:t>
            </a:r>
            <a:r>
              <a:rPr lang="en-US" sz="1100" dirty="0" err="1" smtClean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vs</a:t>
            </a:r>
            <a:r>
              <a:rPr lang="en-US" sz="1100" dirty="0" smtClean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 Time</a:t>
            </a:r>
            <a:r>
              <a:rPr lang="en-US" sz="1100" dirty="0" smtClean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 </a:t>
            </a:r>
            <a:r>
              <a:rPr lang="en-US" sz="110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(Transient)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485628" y="5377916"/>
            <a:ext cx="2535317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Stress-Time Response (Transient)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7400091" y="5382440"/>
            <a:ext cx="1978223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 smtClean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Strain Energy  (Transient)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83" y="2634258"/>
            <a:ext cx="5021525" cy="2263193"/>
          </a:xfrm>
          <a:prstGeom prst="rect">
            <a:avLst/>
          </a:prstGeom>
        </p:spPr>
      </p:pic>
      <p:pic>
        <p:nvPicPr>
          <p:cNvPr id="25" name="Picture 2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070" y="2514550"/>
            <a:ext cx="4966070" cy="2534116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22" y="6035546"/>
            <a:ext cx="4309943" cy="1419463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070" y="6035546"/>
            <a:ext cx="360045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9140" y="919163"/>
            <a:ext cx="7046714" cy="659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Observations &amp; Conclusion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9140" y="1895713"/>
            <a:ext cx="6470452" cy="2076569"/>
          </a:xfrm>
          <a:prstGeom prst="roundRect">
            <a:avLst>
              <a:gd name="adj" fmla="val 4271"/>
            </a:avLst>
          </a:prstGeom>
          <a:noFill/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57858" y="2114431"/>
            <a:ext cx="633532" cy="633532"/>
          </a:xfrm>
          <a:prstGeom prst="roundRect">
            <a:avLst>
              <a:gd name="adj" fmla="val 14431924"/>
            </a:avLst>
          </a:prstGeom>
          <a:noFill/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132046" y="2288619"/>
            <a:ext cx="285036" cy="285036"/>
          </a:xfrm>
          <a:prstGeom prst="rect">
            <a:avLst/>
          </a:prstGeom>
          <a:noFill/>
        </p:spPr>
      </p:pic>
      <p:sp>
        <p:nvSpPr>
          <p:cNvPr id="6" name="Text 3"/>
          <p:cNvSpPr/>
          <p:nvPr/>
        </p:nvSpPr>
        <p:spPr>
          <a:xfrm>
            <a:off x="957858" y="2959060"/>
            <a:ext cx="2871430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Stress Concentrations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57858" y="3415665"/>
            <a:ext cx="603301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Consistent with applied load faces in both analyses.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420689" y="1895713"/>
            <a:ext cx="6470571" cy="2076569"/>
          </a:xfrm>
          <a:prstGeom prst="roundRect">
            <a:avLst>
              <a:gd name="adj" fmla="val 4271"/>
            </a:avLst>
          </a:prstGeom>
          <a:noFill/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639407" y="2114431"/>
            <a:ext cx="633532" cy="633532"/>
          </a:xfrm>
          <a:prstGeom prst="roundRect">
            <a:avLst>
              <a:gd name="adj" fmla="val 14431924"/>
            </a:avLst>
          </a:prstGeom>
          <a:noFill/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813596" y="2288619"/>
            <a:ext cx="285036" cy="285036"/>
          </a:xfrm>
          <a:prstGeom prst="rect">
            <a:avLst/>
          </a:prstGeom>
          <a:noFill/>
        </p:spPr>
      </p:pic>
      <p:sp>
        <p:nvSpPr>
          <p:cNvPr id="11" name="Text 7"/>
          <p:cNvSpPr/>
          <p:nvPr/>
        </p:nvSpPr>
        <p:spPr>
          <a:xfrm>
            <a:off x="7639407" y="2959060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Dynamic Response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39407" y="3415665"/>
            <a:ext cx="6033135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Transient analysis showed dynamic response to varying loads.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39140" y="4183380"/>
            <a:ext cx="6470452" cy="2076569"/>
          </a:xfrm>
          <a:prstGeom prst="roundRect">
            <a:avLst>
              <a:gd name="adj" fmla="val 4271"/>
            </a:avLst>
          </a:prstGeom>
          <a:noFill/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57858" y="4402098"/>
            <a:ext cx="633532" cy="633532"/>
          </a:xfrm>
          <a:prstGeom prst="roundRect">
            <a:avLst>
              <a:gd name="adj" fmla="val 14431924"/>
            </a:avLst>
          </a:prstGeom>
          <a:noFill/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1132046" y="4576286"/>
            <a:ext cx="285036" cy="285036"/>
          </a:xfrm>
          <a:prstGeom prst="rect">
            <a:avLst/>
          </a:prstGeom>
          <a:noFill/>
        </p:spPr>
      </p:pic>
      <p:sp>
        <p:nvSpPr>
          <p:cNvPr id="16" name="Text 11"/>
          <p:cNvSpPr/>
          <p:nvPr/>
        </p:nvSpPr>
        <p:spPr>
          <a:xfrm>
            <a:off x="957858" y="5246727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Mesh Quality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957858" y="5703332"/>
            <a:ext cx="6033016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Acceptable for student version settings.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420689" y="4183380"/>
            <a:ext cx="6470571" cy="2076569"/>
          </a:xfrm>
          <a:prstGeom prst="roundRect">
            <a:avLst>
              <a:gd name="adj" fmla="val 4271"/>
            </a:avLst>
          </a:prstGeom>
          <a:noFill/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39407" y="4402098"/>
            <a:ext cx="633532" cy="633532"/>
          </a:xfrm>
          <a:prstGeom prst="roundRect">
            <a:avLst>
              <a:gd name="adj" fmla="val 14431924"/>
            </a:avLst>
          </a:prstGeom>
          <a:noFill/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813596" y="4576286"/>
            <a:ext cx="285036" cy="285036"/>
          </a:xfrm>
          <a:prstGeom prst="rect">
            <a:avLst/>
          </a:prstGeom>
          <a:noFill/>
        </p:spPr>
      </p:pic>
      <p:sp>
        <p:nvSpPr>
          <p:cNvPr id="21" name="Text 15"/>
          <p:cNvSpPr/>
          <p:nvPr/>
        </p:nvSpPr>
        <p:spPr>
          <a:xfrm>
            <a:off x="7639407" y="5246727"/>
            <a:ext cx="2639735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latin typeface="Times New Roman" panose="02020603050405020304" pitchFamily="18" charset="0"/>
                <a:ea typeface="Poppins Light" pitchFamily="34" charset="-122"/>
                <a:cs typeface="Times New Roman" panose="02020603050405020304" pitchFamily="18" charset="0"/>
              </a:rPr>
              <a:t>Successful Analyses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639407" y="5703332"/>
            <a:ext cx="6033135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Both static and transient analyses were successfully performed.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1055846" y="6735008"/>
            <a:ext cx="12835414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latin typeface="Times New Roman" panose="02020603050405020304" pitchFamily="18" charset="0"/>
                <a:ea typeface="Roboto Light" pitchFamily="34" charset="-122"/>
                <a:cs typeface="Times New Roman" panose="02020603050405020304" pitchFamily="18" charset="0"/>
              </a:rPr>
              <a:t>The object behaves predictably under both constant and time-varying loads.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739140" y="6497479"/>
            <a:ext cx="22860" cy="812959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C12C053-C1D1-9F3B-5573-5E3AFD284778}"/>
              </a:ext>
            </a:extLst>
          </p:cNvPr>
          <p:cNvSpPr txBox="1"/>
          <p:nvPr/>
        </p:nvSpPr>
        <p:spPr>
          <a:xfrm>
            <a:off x="12779829" y="7815943"/>
            <a:ext cx="1763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348</Words>
  <Application>Microsoft Office PowerPoint</Application>
  <PresentationFormat>Custom</PresentationFormat>
  <Paragraphs>64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Roboto Light</vt:lpstr>
      <vt:lpstr>Times New Roman</vt:lpstr>
      <vt:lpstr>Poppins Light</vt:lpstr>
      <vt:lpstr>Arial</vt:lpstr>
      <vt:lpstr>Aptos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Annan</cp:lastModifiedBy>
  <cp:revision>8</cp:revision>
  <dcterms:created xsi:type="dcterms:W3CDTF">2025-11-29T19:19:41Z</dcterms:created>
  <dcterms:modified xsi:type="dcterms:W3CDTF">2025-11-30T22:00:13Z</dcterms:modified>
</cp:coreProperties>
</file>